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23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-914400" y="4206240"/>
            <a:ext cx="13716000" cy="27432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INTEGRANTES:  HUAMAN PREJO SAUL  ·  AGUILAR RIVERA ELVIS ANTONY  ·  SEDANO CAMASCA WALTHER</a:t>
            </a:r>
          </a:p>
          <a:p>
            <a:pPr algn="ctr"/>
            <a:r>
              <a:rPr lang="es-PE" dirty="0"/>
              <a:t/>
            </a:r>
          </a:p>
          <a:p>
            <a:pPr algn="ctr"/>
            <a:r>
              <a:rPr lang="es-PE" dirty="0"/>
              <a:t/>
            </a:r>
          </a:p>
          <a:p>
            <a:pPr algn="ctr"/>
            <a:r>
              <a:rPr lang="es-PE" dirty="0"/>
              <a:t/>
            </a:r>
          </a:p>
          <a:p>
            <a:pPr algn="ctr"/>
            <a:r>
              <a:rPr lang="es-PE" dirty="0"/>
              <a:t/>
            </a:r>
          </a:p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n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4688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2B705"/>
                </a:solidFill>
                <a:latin typeface="Segoe UI"/>
              </a:rPr>
              <a:t>UNIVERSIDAD NACIONAL DE HUANCAVELICA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11247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SISTEMA DE GESTIÓN INTEGRAL DEL TÓPICO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EFF3F8"/>
                </a:solidFill>
                <a:latin typeface="Segoe UI"/>
              </a:rPr>
              <a:t>Registro de pacientes · Atenciones con triage · Inventario · Portal de estudiantes · Despliegue en producción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F2B705"/>
                </a:solidFill>
                <a:latin typeface="Segoe UI"/>
              </a:rPr>
              <a:t>TEAM DEVELOPERS ON PYTHON   ·   Proyecto de Ingeniería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Scrum · Python · Django · PostgreSQL ·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TEMARIO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Agenda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1.  Problema y 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La atención en el Tópico UNH sin digitalizar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21407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5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21407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2.  Objetivos y 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32303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Qué resuelve el sistema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42614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5234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4261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3.  Solución y arquitectura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5351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Django MTV + solo vistas FBV +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1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273549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63821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4.  Módulos del sistema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74717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Pacientes, triage, inventario, reportes, portal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8502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5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8502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5.  Demo en vivo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95924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Login → CRUD → relación → reporte → CSV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06235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315963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206235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6.  Código destacado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517131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Vista FBV + filtro por 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2744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83717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2744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7.  Calidad: pruebas y CI/CD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038338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82 pruebas automatizadas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24864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358377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248649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8.  Despliegue en producción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559545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Vercel + Neon (PostgreSQL)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76985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7958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698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9.  Retrospectiva y Q&amp;A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608075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Qué funcionó bien · qué mejorar en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El problema del Tópico UNH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8C"/>
                </a:solidFill>
                <a:latin typeface="Segoe UI"/>
              </a:rPr>
              <a:t>Situación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>▪  Atención hospitalaria descentralizada y ajetreada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>▪  Registros en papel y hojas de cálculo: pérdida y errores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>▪  Sin historial clínico accesible ni trazabilidad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>▪  Inventario manual: desabastecimiento de insumos críticos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>▪  Citas y turnos sin orden ni prioridad en la cola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>▪  Datos dispersos: sin estadísticas ni reportes de gestión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2B705"/>
                </a:solidFill>
                <a:latin typeface="Segoe UI"/>
              </a:rPr>
              <a:t>Consecuencias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▪  Demoras en la atención y mayor riesgo clínico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▪  Triage subjetivo sin priorización en tiempo real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▪  Stock mal controlado y compras urgentes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▪  Pocos indicadores para la toma de decisiones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▪  Estudiantes sin visibilidad de su turno ni citas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¿Qué resuelve el sistema?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28016" cy="196596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8A5A"/>
                </a:solidFill>
                <a:latin typeface="Segoe UI"/>
              </a:rPr>
              <a:t>Digitalizar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el registro de pacientes y el historial clínico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128016" cy="196596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8745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392B"/>
                </a:solidFill>
                <a:latin typeface="Segoe UI"/>
              </a:rPr>
              <a:t>Priorizar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688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la atención con un triage de 5 niveles en tiempo real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128016" cy="196596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18745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4E8C"/>
                </a:solidFill>
                <a:latin typeface="Segoe UI"/>
              </a:rPr>
              <a:t>Controlar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el inventario con stock automático y alertas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4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3749040"/>
            <a:ext cx="128016" cy="196596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2B705"/>
                </a:solidFill>
                <a:latin typeface="Segoe UI"/>
              </a:rPr>
              <a:t>Empoderar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al estudiante con portal, turno y citas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74904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89120" y="3749040"/>
            <a:ext cx="128016" cy="196596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4069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E75B6"/>
                </a:solidFill>
                <a:latin typeface="Segoe UI"/>
              </a:rPr>
              <a:t>Medir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66344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la gestión con reportes e indicadores exportables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74904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600" y="3749040"/>
            <a:ext cx="128016" cy="196596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0" y="4069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8A5A"/>
                </a:solidFill>
                <a:latin typeface="Segoe UI"/>
              </a:rPr>
              <a:t>Modernizar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66344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con CI/CD y despliegue en la nube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TECNOLOGÍA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Stack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19072"/>
            <a:ext cx="3611880" cy="822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Lenguaje de programación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719072"/>
            <a:ext cx="3611880" cy="82296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Django 5.1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Framework web MTV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719072"/>
            <a:ext cx="361188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9659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Vistas FBV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231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Solo funciones · sin DRF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4612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10712"/>
            <a:ext cx="361188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Bootstrap 5.3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Frontend responsivo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410712"/>
            <a:ext cx="3611880" cy="8229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36576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Chart.js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11480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Gráficos del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4612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3410712"/>
            <a:ext cx="3611880" cy="82296"/>
          </a:xfrm>
          <a:prstGeom prst="rect">
            <a:avLst/>
          </a:prstGeom>
          <a:solidFill>
            <a:srgbClr val="8FA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36576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1480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Base de datos en producción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102352"/>
            <a:ext cx="3611880" cy="82296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349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pytest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064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Automatización de pruebas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9377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5102352"/>
            <a:ext cx="3611880" cy="82296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5349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GitHub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8064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CI/CD continuo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9377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29600" y="5102352"/>
            <a:ext cx="3611880" cy="822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5349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273F"/>
                </a:solidFill>
                <a:latin typeface="Segoe UI"/>
              </a:rPr>
              <a:t>Vercel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8064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Despliegue serverless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Arquitectura del sistema (MTV · solo FBVs)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Navegador · Bootstrap 5 · Chart.js (HTML)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60604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pacientes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260604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atenciones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31536" y="260604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inventario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9168" y="260604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reportes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60604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14432" y="260604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HTML manual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8678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Django 5.1 · ORM · Autenticación · Permisos por 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8FA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47488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SQLite (desarrollo)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920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5047488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4273F"/>
                </a:solidFill>
                <a:latin typeface="Segoe UI"/>
              </a:rPr>
              <a:t>PostgreSQL · Neon (producción — Vercel)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B6B7C"/>
                </a:solidFill>
                <a:latin typeface="Segoe UI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Arquitectura MTV de Django con vistas basadas en funciones (FBV) y formularios HTML manuales, sin Django Forms ni DRF.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MÓDULO · PACIENTES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Gestión de pacientes e historial clínico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4273F"/>
                </a:solidFill>
                <a:latin typeface="Segoe UI"/>
              </a:rPr>
              <a:t>Registro con DNI validado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Verificación de dígitos de control y consulta rápida por DNI o nombre.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09160" y="19202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0574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3464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4273F"/>
                </a:solidFill>
                <a:latin typeface="Segoe UI"/>
              </a:rPr>
              <a:t>Datos completos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65760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Alergias, tipo de sangre, historial clínico digital accesible por el personal.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49640" y="19202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20574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83464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4273F"/>
                </a:solidFill>
                <a:latin typeface="Segoe UI"/>
              </a:rPr>
              <a:t>Búsqueda eficiente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65760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Motor de búsqueda por DNI/nombre para localizar al paciente en segundos.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MÓDULO · ATENCIONES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Triage de 5 niveles en tiempo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ROJO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3736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Reanimación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9456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Emergencia inmediata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NARANJA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73736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Emergencia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Atención en &lt; 10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AMARILLO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73736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Urgencia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19456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Prioridad alta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VERDE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56616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Menor urgencia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02336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Puede esperar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38328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657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AZUL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56616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No urgente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02336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Atención según orden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55955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Cola priorizada: emergencias primero, ordenadas por hora de llegada. Estados: en espera · en atención · atendido · derivado.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MÓDULO · INVENTARIO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Control de stock y trazabilidad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28016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273F"/>
                </a:solidFill>
                <a:latin typeface="Segoe UI"/>
              </a:rPr>
              <a:t>Medicamentos e insumos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Catálogo de fármacos, insumos y equipos del Tópico.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128016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273F"/>
                </a:solidFill>
                <a:latin typeface="Segoe UI"/>
              </a:rPr>
              <a:t>Movimientos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12848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Entradas, salidas y ajustes con actualización automática del stock.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128016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273F"/>
                </a:solidFill>
                <a:latin typeface="Segoe UI"/>
              </a:rPr>
              <a:t>Alertas de stock crítico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67328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Aviso automático cuando un producto cae bajo el mínimo.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1089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9360" y="3108960"/>
            <a:ext cx="128016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337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273F"/>
                </a:solidFill>
                <a:latin typeface="Segoe UI"/>
              </a:rPr>
              <a:t>Recetas digitales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67328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Al recetar, el stock se descuenta en tiempo real.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MÓDULO · REPORTES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Dashboard con indicadores y exportación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28016" cy="141732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73F"/>
                </a:solidFill>
                <a:latin typeface="Segoe UI"/>
              </a:rPr>
              <a:t>Indicadores por día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Nº de atenciones y evolución temporal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128016" cy="141732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73F"/>
                </a:solidFill>
                <a:latin typeface="Segoe UI"/>
              </a:rPr>
              <a:t>Por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945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Distribución por nivel de prioridad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128016" cy="141732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1783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73F"/>
                </a:solidFill>
                <a:latin typeface="Segoe UI"/>
              </a:rPr>
              <a:t>Por estado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1945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En espera / en atención / atendido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128016" cy="141732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4747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73F"/>
                </a:solidFill>
                <a:latin typeface="Segoe UI"/>
              </a:rPr>
              <a:t>Por médico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862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Carga de trabajo por profesional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89120" y="3246120"/>
            <a:ext cx="128016" cy="141732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34747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73F"/>
                </a:solidFill>
                <a:latin typeface="Segoe UI"/>
              </a:rPr>
              <a:t>Valorización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8862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Costo del inventario disponible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Gráficos con Chart.js · Exportación a CSV/Excel · Vista imprimible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MÓDULO · PORTAL DE ESTUDIANTES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Autoservicio para el estudiante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Registro en 2 pasos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Validado contra el padrón UNH · código + DNI.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Reserva de citas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2140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Horarios del Tópico con slots de 30 minutos.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608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Turno en tiempo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9300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Consulta su posición en la cola del día.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92608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9360" y="292608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1089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Historia clínica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9300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Atenciones, diagnósticos, tratamientos y recetas.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4297680"/>
            <a:ext cx="128016" cy="123444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273F"/>
                </a:solidFill>
                <a:latin typeface="Segoe UI"/>
              </a:rPr>
              <a:t>Notificaciones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6460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Correo institucional al reservar, cancelar o atender.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CÓDIGO DESTACADO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Vista FBV y filtro por 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8C"/>
                </a:solidFill>
                <a:latin typeface="Segoe UI"/>
              </a:rPr>
              <a:t>Autenticación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C"/>
                </a:solidFill>
                <a:latin typeface="Segoe UI"/>
              </a:rPr>
              <a:t>@login_required · sesión obligatoria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642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8C"/>
                </a:solidFill>
                <a:latin typeface="Segoe UI"/>
              </a:rPr>
              <a:t>Pacientes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737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C"/>
                </a:solidFill>
                <a:latin typeface="Segoe UI"/>
              </a:rPr>
              <a:t>def lista_pacientes(request)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8C"/>
                </a:solidFill>
                <a:latin typeface="Segoe UI"/>
              </a:rPr>
              <a:t>Atenciones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0632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C"/>
                </a:solidFill>
                <a:latin typeface="Segoe UI"/>
              </a:rPr>
              <a:t>request.GET.get('periodo')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8036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9900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8C"/>
                </a:solidFill>
                <a:latin typeface="Segoe UI"/>
              </a:rPr>
              <a:t>Usuarios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0632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C"/>
                </a:solidFill>
                <a:latin typeface="Segoe UI"/>
              </a:rPr>
              <a:t>create_user() + 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31596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8C"/>
                </a:solidFill>
                <a:latin typeface="Segoe UI"/>
              </a:rPr>
              <a:t>Medicamentos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3891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C"/>
                </a:solidFill>
                <a:latin typeface="Segoe UI"/>
              </a:rPr>
              <a:t>unique_together (atencion, medicamento)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20624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31596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8C"/>
                </a:solidFill>
                <a:latin typeface="Segoe UI"/>
              </a:rPr>
              <a:t>Retiro lógico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3891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C"/>
                </a:solidFill>
                <a:latin typeface="Segoe UI"/>
              </a:rPr>
              <a:t>activo = False en vez de borrar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64184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8C"/>
                </a:solidFill>
                <a:latin typeface="Segoe UI"/>
              </a:rPr>
              <a:t>Filtro por 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715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C"/>
                </a:solidFill>
                <a:latin typeface="Segoe UI"/>
              </a:rPr>
              <a:t>admin ve todo · cada rol ve lo suyo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53212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564184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8C"/>
                </a:solidFill>
                <a:latin typeface="Segoe UI"/>
              </a:rPr>
              <a:t>Citas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715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C"/>
                </a:solidFill>
                <a:latin typeface="Segoe UI"/>
              </a:rPr>
              <a:t>solo su propio titular puede cancelar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Scrum + Git Flow · avance 100 %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Sprint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Entorno, backlog, wireframes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5564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Sprint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Autenticación, pacientes, 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75564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Sprint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Inventario, reportes, 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Portal de estudiantes y citas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2004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40156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Sprint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404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PDF/Excel, permisos, notificaciones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004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340156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Sprint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Cola real, historia clínica, recetas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8FA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04748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273F"/>
                </a:solidFill>
                <a:latin typeface="Segoe UI"/>
              </a:rPr>
              <a:t>Sprint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C"/>
                </a:solidFill>
                <a:latin typeface="Segoe UI"/>
              </a:rPr>
              <a:t>Refactor + despliegue (completado)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48640" y="4983480"/>
            <a:ext cx="1051560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05663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4E8C"/>
                </a:solidFill>
                <a:latin typeface="Segoe UI"/>
              </a:rPr>
              <a:t>100 %  ·  7 de 7 sprints completados  ·  Trabajo escalado con Scrum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Pruebas automatizadas y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F4E8C"/>
                </a:solidFill>
                <a:latin typeface="Segoe UI"/>
              </a:rPr>
              <a:t>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pruebas que pasan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0020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B8A5A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004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módulos cubiertos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2B705"/>
                </a:solidFill>
                <a:latin typeface="Segoe UI"/>
              </a:rPr>
              <a:t>100 %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004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modelos y vistas clave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60020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9659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C0392B"/>
                </a:solidFill>
                <a:latin typeface="Segoe UI"/>
              </a:rPr>
              <a:t>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2004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4273F"/>
                </a:solidFill>
                <a:latin typeface="Segoe UI"/>
              </a:rPr>
              <a:t>GitHub Actions + Vercel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4273F"/>
                </a:solidFill>
                <a:latin typeface="Segoe UI"/>
              </a:rPr>
              <a:t>▪  Cobertura: modelos (validaciones, stock, slots) y vistas web (CRUD, permisos por rol, exportaciones CSV/PDF, notificaciones).  ▪  Pipeline automático: cada integración valida config, migraciones y pruebas en Python 3.12 y 3.13.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4273F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DESPLIEGUE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Producción en la nube — Vercel + Neon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8FA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Desarrollo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FF3F8"/>
                </a:solidFill>
                <a:latin typeface="Segoe UI"/>
              </a:rPr>
              <a:t>Django en local con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3172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B6B7C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62072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5603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Integración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FF3F8"/>
                </a:solidFill>
                <a:latin typeface="Segoe UI"/>
              </a:rPr>
              <a:t>Git + 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33172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B6B7C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9744" y="182880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92624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25603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Migraciones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FF3F8"/>
                </a:solidFill>
                <a:latin typeface="Segoe UI"/>
              </a:rPr>
              <a:t>Migraciones ejecutadas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233172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B6B7C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0296" y="182880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23176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25603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Base de datos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3176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FF3F8"/>
                </a:solidFill>
                <a:latin typeface="Segoe UI"/>
              </a:rPr>
              <a:t>PostgreSQL en Neon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233172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B6B7C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1828800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53728" y="2057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5603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CD / Hosting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FF3F8"/>
                </a:solidFill>
                <a:latin typeface="Segoe UI"/>
              </a:rPr>
              <a:t>Vercel serverless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77639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2B705"/>
                </a:solidFill>
                <a:latin typeface="Segoe UI"/>
              </a:rPr>
              <a:t>Aplicación en producción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https://topico-unh.vercel.app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8FAAC6"/>
                </a:solidFill>
                <a:latin typeface="Segoe UI"/>
              </a:rPr>
              <a:t>DB PostgreSQL migrada · Estáticos servidos por WhiteNoise · Django listo para producción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TEAM DEVELOPERS ON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El equipo que lo hizo posible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0_bg"/>
          <p:cNvSpPr/>
          <p:nvPr/>
        </p:nvSpPr>
        <p:spPr>
          <a:xfrm>
            <a:off x="480000" y="1650000"/>
            <a:ext cx="3800000" cy="35000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0_av"/>
          <p:cNvSpPr/>
          <p:nvPr/>
        </p:nvSpPr>
        <p:spPr>
          <a:xfrm>
            <a:off x="2030000" y="1900000"/>
            <a:ext cx="700000" cy="7000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0_em"/>
          <p:cNvSpPr txBox="1"/>
          <p:nvPr/>
        </p:nvSpPr>
        <p:spPr>
          <a:xfrm>
            <a:off x="2030000" y="2130000"/>
            <a:ext cx="7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14273F"/>
                </a:solidFill>
                <a:latin typeface="Segoe UI"/>
              </a:rPr>
              <a:t>👤</a:t>
            </a:r>
          </a:p>
        </p:txBody>
      </p:sp>
      <p:sp>
        <p:nvSpPr>
          <p:cNvPr id="10" name="m0_nm"/>
          <p:cNvSpPr txBox="1"/>
          <p:nvPr/>
        </p:nvSpPr>
        <p:spPr>
          <a:xfrm>
            <a:off x="680000" y="3300000"/>
            <a:ext cx="34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4273F"/>
                </a:solidFill>
                <a:latin typeface="Segoe UI"/>
              </a:rPr>
              <a:t>Huaman Prejo, Saul</a:t>
            </a:r>
          </a:p>
        </p:txBody>
      </p:sp>
      <p:sp>
        <p:nvSpPr>
          <p:cNvPr id="11" name="m0_rb"/>
          <p:cNvSpPr/>
          <p:nvPr/>
        </p:nvSpPr>
        <p:spPr>
          <a:xfrm>
            <a:off x="1480000" y="4050000"/>
            <a:ext cx="1800000" cy="4500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Scrum Master</a:t>
            </a:r>
          </a:p>
        </p:txBody>
      </p:sp>
      <p:sp>
        <p:nvSpPr>
          <p:cNvPr id="7" name="m1_bg"/>
          <p:cNvSpPr/>
          <p:nvPr/>
        </p:nvSpPr>
        <p:spPr>
          <a:xfrm>
            <a:off x="4200000" y="1650000"/>
            <a:ext cx="3800000" cy="35000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1_av"/>
          <p:cNvSpPr/>
          <p:nvPr/>
        </p:nvSpPr>
        <p:spPr>
          <a:xfrm>
            <a:off x="5750000" y="1900000"/>
            <a:ext cx="700000" cy="7000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1_em"/>
          <p:cNvSpPr txBox="1"/>
          <p:nvPr/>
        </p:nvSpPr>
        <p:spPr>
          <a:xfrm>
            <a:off x="5750000" y="2130000"/>
            <a:ext cx="7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14273F"/>
                </a:solidFill>
                <a:latin typeface="Segoe UI"/>
              </a:rPr>
              <a:t>👤</a:t>
            </a:r>
          </a:p>
        </p:txBody>
      </p:sp>
      <p:sp>
        <p:nvSpPr>
          <p:cNvPr id="10" name="m1_nm"/>
          <p:cNvSpPr txBox="1"/>
          <p:nvPr/>
        </p:nvSpPr>
        <p:spPr>
          <a:xfrm>
            <a:off x="4400000" y="3300000"/>
            <a:ext cx="34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4273F"/>
                </a:solidFill>
                <a:latin typeface="Segoe UI"/>
              </a:rPr>
              <a:t>Aguilar Rivera, Elvis Antoni</a:t>
            </a:r>
          </a:p>
        </p:txBody>
      </p:sp>
      <p:sp>
        <p:nvSpPr>
          <p:cNvPr id="11" name="m1_rb"/>
          <p:cNvSpPr/>
          <p:nvPr/>
        </p:nvSpPr>
        <p:spPr>
          <a:xfrm>
            <a:off x="5200000" y="4050000"/>
            <a:ext cx="1800000" cy="4500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Backend Developer</a:t>
            </a:r>
          </a:p>
        </p:txBody>
      </p:sp>
      <p:sp>
        <p:nvSpPr>
          <p:cNvPr id="7" name="m2_bg"/>
          <p:cNvSpPr/>
          <p:nvPr/>
        </p:nvSpPr>
        <p:spPr>
          <a:xfrm>
            <a:off x="7920000" y="1650000"/>
            <a:ext cx="3800000" cy="35000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2_av"/>
          <p:cNvSpPr/>
          <p:nvPr/>
        </p:nvSpPr>
        <p:spPr>
          <a:xfrm>
            <a:off x="9470000" y="1900000"/>
            <a:ext cx="700000" cy="7000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2_em"/>
          <p:cNvSpPr txBox="1"/>
          <p:nvPr/>
        </p:nvSpPr>
        <p:spPr>
          <a:xfrm>
            <a:off x="9470000" y="2130000"/>
            <a:ext cx="7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14273F"/>
                </a:solidFill>
                <a:latin typeface="Segoe UI"/>
              </a:rPr>
              <a:t>👤</a:t>
            </a:r>
          </a:p>
        </p:txBody>
      </p:sp>
      <p:sp>
        <p:nvSpPr>
          <p:cNvPr id="10" name="m2_nm"/>
          <p:cNvSpPr txBox="1"/>
          <p:nvPr/>
        </p:nvSpPr>
        <p:spPr>
          <a:xfrm>
            <a:off x="8120000" y="3300000"/>
            <a:ext cx="34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4273F"/>
                </a:solidFill>
                <a:latin typeface="Segoe UI"/>
              </a:rPr>
              <a:t>Sedano Camasca, Walther</a:t>
            </a:r>
          </a:p>
        </p:txBody>
      </p:sp>
      <p:sp>
        <p:nvSpPr>
          <p:cNvPr id="11" name="m2_rb"/>
          <p:cNvSpPr/>
          <p:nvPr/>
        </p:nvSpPr>
        <p:spPr>
          <a:xfrm>
            <a:off x="8920000" y="4050000"/>
            <a:ext cx="1800000" cy="45000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Frontend / QA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n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572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Segoe U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2B705"/>
                </a:solidFill>
                <a:latin typeface="Segoe UI"/>
              </a:rPr>
              <a:t>Preguntas y discusión abierta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8FAAC6"/>
                </a:solidFill>
                <a:latin typeface="Segoe UI"/>
              </a:rPr>
              <a:t>topico-unh.vercel.app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6B7C"/>
                </a:solidFill>
                <a:latin typeface="Segoe UI"/>
              </a:rPr>
              <a:t>TEAM DEVELOPERS ON PYTHON · Universidad Nacional de Huancavelica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B705"/>
                </a:solidFill>
                <a:latin typeface="Segoe UI"/>
              </a:rPr>
              <a:t>RETROSPECTIVA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Qué funcionó bien · qué mejorar en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AAC6"/>
                </a:solidFill>
                <a:latin typeface="Segoe UI"/>
              </a:rPr>
              <a:t>Sistema de Gestión del Tópico · Universidad Nacional de Huancavelica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8C"/>
                </a:solidFill>
                <a:latin typeface="Segoe UI"/>
              </a:rPr>
              <a:t>Qué funcionó bien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>▪  Dominio del Tópico UNH definido temprano: modelo estable desde el inicio.  ▪  unique_together en RecetaMedicamento evita duplicados.  ▪  Solo FBVs y HTML manual: código simple y alineado a la restricción del docente.  ▪  82 pruebas dieron confianza para refactorizar y desplegar.  ▪  CI detectó errores antes de cada entrega.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4273F"/>
                </a:solidFill>
                <a:latin typeface="Segoe U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2B705"/>
                </a:solidFill>
                <a:latin typeface="Segoe UI"/>
              </a:rPr>
              <a:t>Qué mejorar en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▪  Cola en tiempo real sin AJAX: hoy requiere refrescar la página.  ▪  Cargar el padrón real de estudiantes desde Excel/CSV.  ▪  Documentar cada historia con capturas durante el sprint, no al final.  ▪  Autenticación por correo (2FA) y contraseñas más estrictas.  ▪  Migrar a un servidor con estado (VPS) para recordatorios en segundo plano.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190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FAAC6"/>
                </a:solidFill>
                <a:latin typeface="Segoe UI"/>
              </a:rPr>
              <a:t>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65392"/>
            <a:ext cx="320040" cy="457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1299</Words>
  <Application>Microsoft Office PowerPoint</Application>
  <PresentationFormat>Panorámica</PresentationFormat>
  <Paragraphs>279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hpdocto@gmail.com</cp:lastModifiedBy>
  <cp:revision>2</cp:revision>
  <dcterms:created xsi:type="dcterms:W3CDTF">2013-01-27T09:14:16Z</dcterms:created>
  <dcterms:modified xsi:type="dcterms:W3CDTF">2026-08-18T16:18:52Z</dcterms:modified>
  <cp:category/>
</cp:coreProperties>
</file>