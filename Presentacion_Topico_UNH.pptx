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4206240"/>
            <a:ext cx="13716000" cy="2743200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7373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4688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2B705"/>
                </a:solidFill>
                <a:latin typeface="Segoe UI"/>
              </a:rPr>
              <a:t>UNIVERSIDAD NACIONAL DE HUANCAVELICA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11247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Segoe UI"/>
              </a:rPr>
              <a:t>SISTEMA DE GESTIÓN INTEGRAL DEL TÓPICO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EFF3F8"/>
                </a:solidFill>
                <a:latin typeface="Segoe UI"/>
              </a:rPr>
              <a:t>Registro de pacientes · Atenciones con triage · Inventario · Portal de estudiantes · API REST y despliegue en producción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2B705"/>
                </a:solidFill>
                <a:latin typeface="Segoe UI"/>
              </a:rPr>
              <a:t>TEAM DEVELOPERS ON PYTHON   ·   Proyecto de Ingeniería de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Scrum · Python · Django · PostgreSQL ·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TEMARIO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Agenda de la presentación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0992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0020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1.  Problema y 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11096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La atención en el Tópico UNH sin digitalizar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21407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31135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121407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2.  Objetivos y 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32303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Qué resuelve el sistema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42614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52342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64261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3.  Solución y arquitectura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953510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Django MTV + API REST + PostgreSQL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1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73549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163821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4.  Módulos del sistema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74717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Pacientes, triage, inventario, reportes, portal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685028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94756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6850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5.  Demo en vivo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995924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Recorrido por la aplicación desplegada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06235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315963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206235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6.  Metodología Scrum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17131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Sprints, Git Flow, avance 95 %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727442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837170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72744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7.  Calidad: pruebas y CI/CD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03833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83 pruebas automatizadas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248649"/>
            <a:ext cx="50292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58377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248649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8.  Despliegue en producción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559545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Vercel + Neon (PostgreSQL)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769856"/>
            <a:ext cx="502920" cy="50292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7958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7698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9.  Q&amp;A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6080752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Preguntas del auditorio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El problema del Tópico UNH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F4E8C"/>
                </a:solidFill>
                <a:latin typeface="Segoe UI"/>
              </a:rPr>
              <a:t>Situación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4754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4273F"/>
                </a:solidFill>
                <a:latin typeface="Segoe UI"/>
              </a:rPr>
              <a:t>▪  Atención hospitalaria descentralizada y ajetreada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4273F"/>
                </a:solidFill>
                <a:latin typeface="Segoe UI"/>
              </a:rPr>
              <a:t>▪  Registros en papel y hojas de cálculo: pérdida y errores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4273F"/>
                </a:solidFill>
                <a:latin typeface="Segoe UI"/>
              </a:rPr>
              <a:t>▪  Sin historial clínico accesible ni trazabilidad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4273F"/>
                </a:solidFill>
                <a:latin typeface="Segoe UI"/>
              </a:rPr>
              <a:t>▪  Inventario manual: desabastecimiento de insumos críticos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4273F"/>
                </a:solidFill>
                <a:latin typeface="Segoe UI"/>
              </a:rPr>
              <a:t>▪  Citas y turnos sin orden ni prioridad en la cola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14273F"/>
                </a:solidFill>
                <a:latin typeface="Segoe UI"/>
              </a:rPr>
              <a:t>▪  Datos dispersos: sin estadísticas ni reportes de gestión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2B705"/>
                </a:solidFill>
                <a:latin typeface="Segoe UI"/>
              </a:rPr>
              <a:t>Consecuencias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86000"/>
            <a:ext cx="4754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▪  Demoras en la atención y mayor riesgo clínico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▪  Triage subjetivo sin priorización en tiempo real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▪  Stock mal controlado y compras urgentes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▪  Pocos indicadores para la toma de decisiones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▪  Estudiantes sin visibilidad de su turno ni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OBJETIVOS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¿Qué resuelve el sistema?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28016" cy="196596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2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8A5A"/>
                </a:solidFill>
                <a:latin typeface="Segoe UI"/>
              </a:rPr>
              <a:t>Digitalizar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el registro de pacientes y el historial clínico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54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128016" cy="196596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87452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392B"/>
                </a:solidFill>
                <a:latin typeface="Segoe UI"/>
              </a:rPr>
              <a:t>Priorizar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4688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la atención con un triage de 5 niveles en tiempo real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128016" cy="196596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87452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F4E8C"/>
                </a:solidFill>
                <a:latin typeface="Segoe UI"/>
              </a:rPr>
              <a:t>Controlar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4688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el inventario con stock automático y alertas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4904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749040"/>
            <a:ext cx="128016" cy="196596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69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2B705"/>
                </a:solidFill>
                <a:latin typeface="Segoe UI"/>
              </a:rPr>
              <a:t>Empoderar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al estudiante con portal, turno y citas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74904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89120" y="3749040"/>
            <a:ext cx="128016" cy="196596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4069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E75B6"/>
                </a:solidFill>
                <a:latin typeface="Segoe UI"/>
              </a:rPr>
              <a:t>Medir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la gestión con reportes e indicadores exportables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374904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0" y="3749040"/>
            <a:ext cx="128016" cy="196596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406908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8A5A"/>
                </a:solidFill>
                <a:latin typeface="Segoe UI"/>
              </a:rPr>
              <a:t>Modernizar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con API REST, CI/CD y despliegue en la nube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TECNOLOGÍA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Stack tecnológico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19072"/>
            <a:ext cx="3611880" cy="82296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Python 3.12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Lenguaje de programación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5448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19072"/>
            <a:ext cx="3611880" cy="82296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65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Django 5.1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231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Framework web MTV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719072"/>
            <a:ext cx="361188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965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Django REST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42316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API REST 3.17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4612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10712"/>
            <a:ext cx="3611880" cy="822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Bootstrap 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1148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Frontend responsivo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4612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3410712"/>
            <a:ext cx="3611880" cy="8229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365760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Chart.js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1148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Gráficos del dashboard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324612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3410712"/>
            <a:ext cx="3611880" cy="82296"/>
          </a:xfrm>
          <a:prstGeom prst="rect">
            <a:avLst/>
          </a:prstGeom>
          <a:solidFill>
            <a:srgbClr val="8FA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65760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PostgreSQL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11480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Base de datos en producción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93776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102352"/>
            <a:ext cx="3611880" cy="82296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3492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pytest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8064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Automatización de pruebas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89120" y="493776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5102352"/>
            <a:ext cx="3611880" cy="82296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53492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GitHub Actions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58064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CI/CD continuo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0" y="4937760"/>
            <a:ext cx="361188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5102352"/>
            <a:ext cx="3611880" cy="82296"/>
          </a:xfrm>
          <a:prstGeom prst="rect">
            <a:avLst/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53492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273F"/>
                </a:solidFill>
                <a:latin typeface="Segoe UI"/>
              </a:rPr>
              <a:t>Vercel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806440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Despliegue serverless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Arquitectura del sistema (MTV + API 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Navegador · Bootstrap 5 · Chart.js (HTML / JSON)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accounts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60604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pacientes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60604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atenciones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31536" y="260604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inventario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59168" y="260604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reportes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260604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portal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14432" y="2606040"/>
            <a:ext cx="1572768" cy="9144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api (DRF)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986784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Django 5.1 · ORM · Autenticación · Permisos por rol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5394960" cy="685800"/>
          </a:xfrm>
          <a:prstGeom prst="roundRect">
            <a:avLst>
              <a:gd name="adj" fmla="val 8000"/>
            </a:avLst>
          </a:prstGeom>
          <a:solidFill>
            <a:srgbClr val="8FA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4748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SQLite (desarrollo)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892040"/>
            <a:ext cx="5394960" cy="68580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5047488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4273F"/>
                </a:solidFill>
                <a:latin typeface="Segoe UI"/>
              </a:rPr>
              <a:t>PostgreSQL · Neon (producción — Vercel)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B6B7C"/>
                </a:solidFill>
                <a:latin typeface="Segoe UI"/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Arquitectura MTV de Django complementada con una API REST con autenticación por token, filtros, orden y paginación.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MÓDULO · PACIENTES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Gestión de pacientes e historial clínico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92024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Registro con DNI validado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Verificación de dígitos de control y consulta rápida por DNI o nombre.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09160" y="192024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057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83464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Datos completos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65760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Alergias, tipo de sangre, historial clínico digital accesible por el personal.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5448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9640" y="192024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057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83464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Búsqueda eficiente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657600"/>
            <a:ext cx="2971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Motor de búsqueda por DNI/nombre para localizar al paciente en segundos.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MÓDULO · ATENCIONES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Triage de 5 niveles en tiempo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371600" cy="155448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ROJO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73736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Reanimación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194560"/>
            <a:ext cx="1874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Emergencia inmediata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54480"/>
            <a:ext cx="1371600" cy="1554480"/>
          </a:xfrm>
          <a:prstGeom prst="roundRect">
            <a:avLst>
              <a:gd name="adj" fmla="val 8000"/>
            </a:avLst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828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NARANJA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73736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Emergencia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194560"/>
            <a:ext cx="1874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Atención en &lt; 10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1371600" cy="155448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AMARILLO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173736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Urgencia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194560"/>
            <a:ext cx="1874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Prioridad alta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83280"/>
            <a:ext cx="1371600" cy="155448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576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VERDE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56616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Menor urgencia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023360"/>
            <a:ext cx="1874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Puede esperar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383280"/>
            <a:ext cx="1371600" cy="155448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36576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AZUL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566160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No urgente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023360"/>
            <a:ext cx="1874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Atención según orden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5595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Cola priorizada: emergencias primero, ordenadas por hora de llegada. Estados: en espera · en atención · atendido · derivado.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MÓDULO · INVENTARIO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Control de stock y trazabilidad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28016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Medicamentos e insumos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Catálogo de fármacos, insumos y equipos del Tópico.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128016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Movimientos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21284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Entradas, salidas y ajustes con actualización automática del stock.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128016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Alertas de stock crítico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6732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Aviso automático cuando un producto cae bajo el mínimo.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0896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9360" y="3108960"/>
            <a:ext cx="128016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337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Recetas digitales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6732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Al recetar, el stock se descuenta en tiempo real.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MÓDULO · REPORTES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Dashboard con indicadores y exportación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28016" cy="141732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73F"/>
                </a:solidFill>
                <a:latin typeface="Segoe UI"/>
              </a:rPr>
              <a:t>Indicadores por día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Nº de atenciones y evolución temporal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544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128016" cy="141732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78308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73F"/>
                </a:solidFill>
                <a:latin typeface="Segoe UI"/>
              </a:rPr>
              <a:t>Por triage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94560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Distribución por nivel de prioridad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554480"/>
            <a:ext cx="128016" cy="141732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78308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73F"/>
                </a:solidFill>
                <a:latin typeface="Segoe UI"/>
              </a:rPr>
              <a:t>Por estado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194560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En espera / en atención / atendido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4612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246120"/>
            <a:ext cx="128016" cy="141732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474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73F"/>
                </a:solidFill>
                <a:latin typeface="Segoe UI"/>
              </a:rPr>
              <a:t>Por médico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886200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Carga de trabajo por profesional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4612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89120" y="3246120"/>
            <a:ext cx="128016" cy="141732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3474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73F"/>
                </a:solidFill>
                <a:latin typeface="Segoe UI"/>
              </a:rPr>
              <a:t>Valorización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886200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Costo del inventario disponible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0916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Gráficos con Chart.js · Exportación a CSV/Excel · Vista imprimible PDF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MÓDULO · PORTAL DE ESTUDIANTES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Autoservicio para el estudiante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28016" cy="123444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Registro en 2 pasos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21408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Validado contra el padrón UNH · código + DNI.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128016" cy="123444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737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Reserva de citas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21408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Horarios del Tópico con slots de 30 minutos.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2608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128016" cy="123444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Turno en tiempo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93008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Consulta su posición en la cola del día.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92608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9360" y="2926080"/>
            <a:ext cx="128016" cy="123444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1089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Historia clínica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493008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Atenciones, diagnósticos, tratamientos y recetas.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9768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4297680"/>
            <a:ext cx="128016" cy="123444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480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273F"/>
                </a:solidFill>
                <a:latin typeface="Segoe UI"/>
              </a:rPr>
              <a:t>Notificaciones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64608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Correo institucional al reservar, cancelar o atender.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11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API 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Interoperabilidad para integraciones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Autenticación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373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Token + sesión. POST /api/token/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66420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Pacientes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7373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CRUD en /api/pacientes/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8036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99008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Atenciones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CRUD + filtros ?estado= &amp; ?triage= en /api/atenciones/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8036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99008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Signos vitales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0632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CRUD en /api/signos-vitales/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1596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Medicamentos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389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CRUD + ?criticos=true en /api/medicamentos/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20624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31596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Movimientos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389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POST asignando el usuario autenticado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3212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64184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Estudiantes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57150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Padrón en /api/estudiantes/ (solo lectura)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553212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564184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4E8C"/>
                </a:solidFill>
                <a:latin typeface="Segoe UI"/>
              </a:rPr>
              <a:t>Citas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150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B7C"/>
                </a:solidFill>
                <a:latin typeface="Segoe UI"/>
              </a:rPr>
              <a:t>Reserva en /api/citas/ ?estado=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Scrum + Git Flow · avance 95 %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5564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Sprint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Entorno, backlog, wireframes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75564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Sprint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9456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Autenticación, pacientes, triage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55448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75564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Sprint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19456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Inventario, reportes, API,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040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Sprint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Portal de estudiantes y citas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20040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34015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Sprint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8404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PDF/Excel, permisos, notificaciones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20040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340156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Sprint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404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Segoe UI"/>
              </a:rPr>
              <a:t>Cola real, historia clínica, recetas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4632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8FA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4748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273F"/>
                </a:solidFill>
                <a:latin typeface="Segoe UI"/>
              </a:rPr>
              <a:t>Sprint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48640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B7C"/>
                </a:solidFill>
                <a:latin typeface="Segoe UI"/>
              </a:rPr>
              <a:t>Derivaciones y despliegue (pendiente)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834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983480"/>
            <a:ext cx="10515600" cy="50292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05663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F4E8C"/>
                </a:solidFill>
                <a:latin typeface="Segoe UI"/>
              </a:rPr>
              <a:t>95 %  ·  6 de 7 sprints completados  ·  Trabajo escalado con Scrum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CALIDAD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Pruebas automatizadas y CI/CD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F4E8C"/>
                </a:solidFill>
                <a:latin typeface="Segoe UI"/>
              </a:rPr>
              <a:t>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pruebas que pasan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60020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1B8A5A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200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módulos cubiertos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F2B705"/>
                </a:solidFill>
                <a:latin typeface="Segoe UI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200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modelos y vistas clave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1600200"/>
            <a:ext cx="2743200" cy="23774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9659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C0392B"/>
                </a:solidFill>
                <a:latin typeface="Segoe UI"/>
              </a:rPr>
              <a:t>CI/CD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20040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>
                <a:solidFill>
                  <a:srgbClr val="14273F"/>
                </a:solidFill>
                <a:latin typeface="Segoe UI"/>
              </a:rPr>
              <a:t>GitHub Actions + Vercel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9768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720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4273F"/>
                </a:solidFill>
                <a:latin typeface="Segoe UI"/>
              </a:rPr>
              <a:t>▪  Cobertura: modelos (validaciones, stock, slots), vistas web (CRUD, permisos, exportaciones, notificaciones) y API REST (token, filtros).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14273F"/>
                </a:solidFill>
                <a:latin typeface="Segoe UI"/>
              </a:rPr>
              <a:t>▪  Pipeline automático: cada integración valida código, corre pruebas y despliega en Vercel.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DESPLIEGUE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Producción en la nube — Vercel + Neon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103120" cy="1554480"/>
          </a:xfrm>
          <a:prstGeom prst="roundRect">
            <a:avLst>
              <a:gd name="adj" fmla="val 8000"/>
            </a:avLst>
          </a:prstGeom>
          <a:solidFill>
            <a:srgbClr val="8FA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FF3F8"/>
                </a:solidFill>
                <a:latin typeface="Segoe UI"/>
              </a:rPr>
              <a:t>Django en local con SQLite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B6B7C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9192" y="1828800"/>
            <a:ext cx="2103120" cy="155448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2072" y="20574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25603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Integración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072" y="2743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FF3F8"/>
                </a:solidFill>
                <a:latin typeface="Segoe UI"/>
              </a:rPr>
              <a:t>Git + GitHub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B6B7C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9744" y="1828800"/>
            <a:ext cx="2103120" cy="155448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20574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25603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Migraciones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743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FF3F8"/>
                </a:solidFill>
                <a:latin typeface="Segoe UI"/>
              </a:rPr>
              <a:t>CM ejecutadas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21424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B6B7C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0296" y="1828800"/>
            <a:ext cx="2103120" cy="1554480"/>
          </a:xfrm>
          <a:prstGeom prst="roundRect">
            <a:avLst>
              <a:gd name="adj" fmla="val 8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23176" y="20574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3176" y="25603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Base de datos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3176" y="2743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FF3F8"/>
                </a:solidFill>
                <a:latin typeface="Segoe UI"/>
              </a:rPr>
              <a:t>PostgreSQL en Neon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1976" y="2331720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5B6B7C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1828800"/>
            <a:ext cx="2103120" cy="155448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53728" y="20574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728" y="25603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CD / Hosting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3728" y="274320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FF3F8"/>
                </a:solidFill>
                <a:latin typeface="Segoe UI"/>
              </a:rPr>
              <a:t>Vercel serverless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77639"/>
            <a:ext cx="11064240" cy="1828800"/>
          </a:xfrm>
          <a:prstGeom prst="roundRect">
            <a:avLst>
              <a:gd name="adj" fmla="val 8000"/>
            </a:avLst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2B705"/>
                </a:solidFill>
                <a:latin typeface="Segoe UI"/>
              </a:rPr>
              <a:t>Aplicación en producción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https://topico-unh.vercel.app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8FAAC6"/>
                </a:solidFill>
                <a:latin typeface="Segoe UI"/>
              </a:rPr>
              <a:t>DB PostgreSQL migrada · Estadísticas servir por WhiteNoise · Django listo para producción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2B705"/>
                </a:solidFill>
                <a:latin typeface="Segoe UI"/>
              </a:rPr>
              <a:t>TEAM DEVELOPERS ON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El equipo que lo hizo posible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AAC6"/>
                </a:solidFill>
                <a:latin typeface="Segoe UI"/>
              </a:rPr>
              <a:t>Sistema de Gestión del Tópico · Universidad Nacional de Huancavelica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86400" cy="30175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96596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9456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14273F"/>
                </a:solidFill>
                <a:latin typeface="Segoe UI"/>
              </a:rP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0040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4273F"/>
                </a:solidFill>
                <a:latin typeface="Segoe UI"/>
              </a:rPr>
              <a:t>Huaman Prejo, Saul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393192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1F4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Scrum Master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00200"/>
            <a:ext cx="5486400" cy="3017520"/>
          </a:xfrm>
          <a:prstGeom prst="roundRect">
            <a:avLst>
              <a:gd name="adj" fmla="val 8000"/>
            </a:avLst>
          </a:prstGeom>
          <a:solidFill>
            <a:srgbClr val="EF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49640" y="196596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9456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14273F"/>
                </a:solidFill>
                <a:latin typeface="Segoe UI"/>
              </a:rPr>
              <a:t>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20040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4273F"/>
                </a:solidFill>
                <a:latin typeface="Segoe UI"/>
              </a:rPr>
              <a:t>Aguilar Rivera, Elvis Antoni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393192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Backend Developer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4335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8FAAC6"/>
                </a:solidFill>
                <a:latin typeface="Segoe UI"/>
              </a:rPr>
              <a:t>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565392"/>
            <a:ext cx="320040" cy="4572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n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65176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Segoe UI"/>
              </a:rPr>
              <a:t>¡Gracias!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2B705"/>
                </a:solidFill>
                <a:latin typeface="Segoe UI"/>
              </a:rPr>
              <a:t>Preguntas y discusión abierta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8FAAC6"/>
                </a:solidFill>
                <a:latin typeface="Segoe UI"/>
              </a:rPr>
              <a:t>topico-unh.vercel.app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57784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B6B7C"/>
                </a:solidFill>
                <a:latin typeface="Segoe UI"/>
              </a:rPr>
              <a:t>TEAM DEVELOPERS ON PYTHON · Universidad Nacional de Huancavelica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